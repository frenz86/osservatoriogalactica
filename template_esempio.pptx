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201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LIVELLO GENERALE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RISULTATO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402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{{strategia.risultato}}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063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{{cultura.risultato}}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886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{{processi.risultato}}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709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{{mercato.risultato}}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8640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{{strategia.risultato}}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{{strategia.commento}}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Strategia e Pianificazione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{{strategia_pianificazione.risultato}}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{{strategia_pianificazione.attivita}}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Governance e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{{governance_leadership.risultato}}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{{governance_leadership.attivita}}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Misurazione e Impatto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{{misurazione_impatto.risultato}}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{{misurazione_impatto.attivita}}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{{cultura.risultato}}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{{cultura.commento}}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Cultura e Comportamenti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{{cultura_comportamenti.risultato}}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{{cultura_comportamenti.attivita}}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Benessere e Sicurezza Psicologica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{{benessere_sicurezza.risultato}}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{{benessere_sicurezza.attivita}}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Formazione e Consapevolezza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{{formazione_consapevolezza.risultato}}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{{formazione_consapevolezza.attivita}}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{{processi.risultato}}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{{processi.commento}}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Processi Operativi e Accessibilità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{{processi_operativi_accessibilita.risultato}}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{{processi_operativi_accessibilita.attivita}}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Persone e Processi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{{persone_processi.risultato}}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{{persone_processi.attivita}}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Innovazione, Ricerca e Sviluppo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{{innovazione_ricerca_sviluppo.risultato}}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{{innovazione_ricerca_sviluppo.attivita}}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{{mercato.risultato}}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{{mercato.commento}}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Brand, Comunicazione e Rappresentazione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{{brand_comunicazione_rappresentazione.risultato}}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{{brand_comunicazione_rappresentazione.attivita}}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Clienti, Utenti e 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{{clienti_utenti_accessibilita.risultato}}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{{clienti_utenti_accessibilita.attivita}}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Impatto Sociale e Posizionamento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{{impatto_sociale_posizionamento.risultato}}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{{impatto_sociale_posizionamento.attivita}}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PROFILO DI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Distribuzione dei livelli di maturità per area (radar) e per area/sottogruppo (sunburst)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{{radar.aree}}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0020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{{sunburst.aree}}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LIVELLI PER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40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STRATEGIA  </a:t>
            </a:r>
            <a:r>
              <a:rPr sz="1200" b="0">
                <a:solidFill>
                  <a:srgbClr val="555555"/>
                </a:solidFill>
                <a:latin typeface="Calibri"/>
              </a:rPr>
              <a:t>{{strategia.risultato}}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7063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CULTURA  </a:t>
            </a:r>
            <a:r>
              <a:rPr sz="1200" b="0">
                <a:solidFill>
                  <a:srgbClr val="555555"/>
                </a:solidFill>
                <a:latin typeface="Calibri"/>
              </a:rPr>
              <a:t>{{cultura.risultato}}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30098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PROCESSI  </a:t>
            </a:r>
            <a:r>
              <a:rPr sz="1200" b="0">
                <a:solidFill>
                  <a:srgbClr val="555555"/>
                </a:solidFill>
                <a:latin typeface="Calibri"/>
              </a:rPr>
              <a:t>{{processi.risultato}}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83133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MERCATO  </a:t>
            </a:r>
            <a:r>
              <a:rPr sz="1200" b="0">
                <a:solidFill>
                  <a:srgbClr val="555555"/>
                </a:solidFill>
                <a:latin typeface="Calibri"/>
              </a:rPr>
              <a:t>{{mercato.risultato}}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4407408"/>
            <a:ext cx="310896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56285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LIVELLO 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92861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Calibri"/>
              </a:rPr>
              <a:t>{{panoramica.risultato}}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23560"/>
            <a:ext cx="11201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PUNTEGGIO MEDIO COMPLESSIVO   </a:t>
            </a:r>
            <a:r>
              <a:rPr sz="1000" b="0">
                <a:solidFill>
                  <a:srgbClr val="555555"/>
                </a:solidFill>
                <a:latin typeface="Calibri"/>
              </a:rPr>
              <a:t>{{panoramica.livello_medio}}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{{panoramica.descrizione}}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PROFILO RADAR ESTERNO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Punteggi di reporting e delle dimensioni DEIA: azienda vs media dei concorrenti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3949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{{radar_reporting.azienda}}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08760"/>
            <a:ext cx="53949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{{radar_diversita.azienda}}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06240"/>
            <a:ext cx="53949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{{radar_reporting.settore}}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206240"/>
            <a:ext cx="53949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{{radar_diversita.settore}}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MATRICE DI TRASPARENZA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Maturità praticata (survey) vs comunicata (reporting) sui 10 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{{matrice.tabella}}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54480"/>
            <a:ext cx="57150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{{matrice.grafico}}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DESCRIZIONI PER PUNTEGGIO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Testo di riferimento del punteggio comunicato (asse Y), 5 temi per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014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{{descrizioni.tabella1}}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DESCRIZIONI PER PUNTEGGIO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Testo di riferimento del punteggio comunicato (asse Y), 5 temi per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014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{{descrizioni.tabella2}}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