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128" y="301752"/>
            <a:ext cx="4965192" cy="6263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PANORAMICA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Livello di maturità DEIA aggregato sull'intero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488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LIVELLO MACRO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42032"/>
            <a:ext cx="8686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1A1A1A"/>
                </a:solidFill>
                <a:latin typeface="Calibri"/>
              </a:rPr>
              <a:t>{{panoramica.risultato}}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77639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Calibri"/>
              </a:rPr>
              <a:t>{{panoramica.livello_medio}}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70916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892040"/>
            <a:ext cx="11201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COSA SIGNIFICA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57800"/>
            <a:ext cx="11201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{{panoramica.descrizione}}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{{strategia.risultato}}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{{strategia.commento}}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Strategia e Pianificazione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{{strategia_pianificazione.risultato}}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{{strategia_pianificazione.attivita}}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Governance e Leadership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{{governance_leadership.risultato}}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{{governance_leadership.attivita}}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Misurazione e Impatto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{{misurazione_impatto.risultato}}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{{misurazione_impatto.attivita}}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CULTURA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{{cultura.risultato}}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{{cultura.commento}}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Cultura e Comportamenti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{{cultura_comportamenti.risultato}}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{{cultura_comportamenti.attivita}}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Benessere e Sicurezza Psicologica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{{benessere_sicurezza.risultato}}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{{benessere_sicurezza.attivita}}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Formazione e Consapevolezza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{{formazione_consapevolezza.risultato}}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{{formazione_consapevolezza.attivita}}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PROCESSI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{{processi.risultato}}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{{processi.commento}}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Processi Operativi e Accessibilità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{{processi_operativi_accessibilita.risultato}}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{{processi_operativi_accessibilita.attivita}}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Persone e Processi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{{persone_processi.risultato}}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{{persone_processi.attivita}}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Innovazione, Ricerca e Sviluppo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{{innovazione_ricerca_sviluppo.risultato}}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{{innovazione_ricerca_sviluppo.attivita}}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MERCATO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{{mercato.risultato}}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{{mercato.commento}}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Brand, Comunicazione e Rappresentazione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{{brand_comunicazione_rappresentazione.risultato}}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{{brand_comunicazione_rappresentazione.attivita}}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Clienti, Utenti e Accessibilità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{{clienti_utenti_accessibilita.risultato}}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{{clienti_utenti_accessibilita.attivita}}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Impatto Sociale e Posizionamento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{{impatto_sociale_posizionamento.risultato}}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{{impatto_sociale_posizionamento.attivita}}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PROFILO DI MATURITÀ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Distribuzione dei livelli di maturità per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612648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{{radar.aree}}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78308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LIVELLI PER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24028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STRATEGIA   </a:t>
            </a:r>
            <a:r>
              <a:rPr sz="1300" b="0">
                <a:solidFill>
                  <a:srgbClr val="555555"/>
                </a:solidFill>
                <a:latin typeface="Calibri"/>
              </a:rPr>
              <a:t>{{strategia.risultato}}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770632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CULTURA   </a:t>
            </a:r>
            <a:r>
              <a:rPr sz="1300" b="0">
                <a:solidFill>
                  <a:srgbClr val="555555"/>
                </a:solidFill>
                <a:latin typeface="Calibri"/>
              </a:rPr>
              <a:t>{{cultura.risultato}}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300984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PROCESSI   </a:t>
            </a:r>
            <a:r>
              <a:rPr sz="1300" b="0">
                <a:solidFill>
                  <a:srgbClr val="555555"/>
                </a:solidFill>
                <a:latin typeface="Calibri"/>
              </a:rPr>
              <a:t>{{processi.risultato}}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3831336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MERCATO   </a:t>
            </a:r>
            <a:r>
              <a:rPr sz="1300" b="0">
                <a:solidFill>
                  <a:srgbClr val="555555"/>
                </a:solidFill>
                <a:latin typeface="Calibri"/>
              </a:rPr>
              <a:t>{{mercato.risultato}}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4407408"/>
            <a:ext cx="425196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4562856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LIVELLO MACRO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4928616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E86A17"/>
                </a:solidFill>
                <a:latin typeface="Calibri"/>
              </a:rPr>
              <a:t>{{panoramica.risultato}}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