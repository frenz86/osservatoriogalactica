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301752"/>
            <a:ext cx="4965192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PANORAMICA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Livello di maturità DEIA aggregato sull'intero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LIVELLO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A1A1A"/>
                </a:solidFill>
                <a:latin typeface="Calibri"/>
              </a:rPr>
              <a:t>4 - GRAVITA'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77639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4,00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70916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11201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COSA SIGNIFICA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1201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La consistenza diventa una caratteristica distintiva: anche nel cambiamento, l’organizzazione mantiene coerenza tra valori, decisioni e comportamenti, generando fiducia, continuità e impatto interno ed esterno nel tempo.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La consistenza strategica rappresenta una capacità distintiva dell’organizzazione. Visione, cultura, processi e relazioni con gli stakeholder operano come un sistema integrato capace di mantenere coerenza anche nei contesti di cambiamento e complessità. La leadership genera orientamento condiviso, fiducia e responsabilità diffusa, mentre sostenibilità, apprendimento continuo e impatto umano positivo diventano parte integrante del modello di sviluppo e del vantaggio competitivo dell’organizzazione.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Strategia e Pianificazione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Mantenere coerenza strategica anche nelle fasi di cambiamento, continuando a integrare sostenibilità, innovazione e impatto nelle decisioni aziendali. Rafforzare la capacità dell’organizzazione di anticipare evoluzioni future e generare valore nel lungo periodo.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Governance e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Continuare a sviluppare una leadership capace di generare fiducia, orientamento e apprendimento continuo. Rafforzare la capacità della governance di sostenere innovazione, sostenibilità e coerenza sistemica nel tempo.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Misurazione e Impatto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una cultura della valutazione e dell’apprendimento continuo, rafforzando accountability, trasparenza e capacità di generare impatto sostenibile nel lungo periodo.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La cultura rappresenta una forza generativa che orienta comportamenti, decisioni e relazioni anche nei momenti di complessità. Fiducia, responsabilità condivisa, inclusione e apprendimento continuo sono profondamente integrati nell’esperienza organizzativa. Le persone percepiscono coerenza tra ciò che l’organizzazione dichiara e ciò che realmente vive. L’ambiente favorisce autonomia, partecipazione e sviluppo reciproco, generando senso di appartenenza  e capacità di innovazione sostenibile.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Cultura e Comportamenti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una cultura relazionale fondata su fiducia, responsabilità condivisa e collaborazione diffusa, sostenendo nel tempo capacità di innovazione, appartenenza e adattamento organizzativo.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Benessere e Sicurezza Psicologica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 ambiente di lavoro capace di sostenere benessere, equilibrio e possibilità di espressione nel lungo periodo, favorendo apprendimento continuo, fiducia reciproca e sostenibilità organizzativa.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Formazione e Consapevolezza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una cultura dell’apprendimento diffuso in cui sviluppo delle competenze, consapevolezza relazionale e capacità di leggere le connessioni tra persone, processi e decisioni sostengano innovazione, adattabilità ed evoluzione organizzativa nel tempo.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I processi rappresentano una vera infrastruttura abilitante della cultura organizzativa e dell’innovazione. Accessibilità, semplicità, autonomia e collaborazione guidano il modo in cui il lavoro viene progettato e gestito, favorendo sostenibilità, apprendimento continuo e qualità delle relazioni. La capacità di mantenere coerenza tra struttura e adattabilità permette all’organizzazione di evolvere con maggiore efficacia, rafforzando velocità decisionale, fiducia, crescita interna e capacità di generare valore condiviso.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Processi Operativi e Accessibilità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processi flessibili e adattabili capaci di sostenere autonomia, collaborazione e sostenibilità del lavoro nel tempo. Rafforzare la capacità dell’organizzazione di evolvere mantenendo continuità e qualità operativa.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Persone e Processi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pratiche che supportino sviluppo, benessere e valorizzazione delle differenze nel lungo periodo, creando condizioni che favoriscano fiducia, appartenenza e continuità organizzativa.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Innovazione, Ricerca e Sviluppo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 ecosistema di innovazione aperto e partecipativo capace di generare apprendimento continuo, valore condiviso e impatto positivo per persone, organizzazione e mercato.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L’organizzazione esercita un impatto positivo e riconoscibile sul proprio ecosistema, mantenendo forte coerenza tra identità interna, pratiche operative e presenza sul mercato. Reputazione, fiducia e sostenibilità diventano elementi distintivi della relazione con stakeholder, clienti e partner. Attraverso la propria capacità di innovare e generare valore condiviso, l’organizzazione contribuisce attivamente all’evoluzione culturale, sociale ed economica del contesto in cui opera.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Brand, Comunicazione e Rappresentazione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una comunicazione autentica e coerente con la cultura organizzativa, rafforzando reputazione, fiducia e capacità dell’organizzazione di generare impatto positivo e riconoscibile nel proprio ecosistema.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Clienti, Utenti e 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 approccio progettuale orientato ad accessibilità, semplicità e inclusione, rafforzando qualità dell’esperienza, fiducia degli utenti e capacità di generare valore condiviso nel lungo periodo.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Impatto Sociale e Posizionamento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4 - GRAVITA'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Consolidare un posizionamento riconoscibile e credibile sul piano sociale e culturale, contribuendo attivamente alla diffusione di pratiche sostenibili, inclusive e orientate al valore condiviso.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PROFILO DI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Distribuzione dei livelli di maturità per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7830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LIVELLI PER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240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STRATEGIA   4 - GRAVITA'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7063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CULTURA   4 - GRAVITA'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3009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PROCESSI   4 - GRAVITA'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83133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MERCATO   4 - GRAVITA'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4407408"/>
            <a:ext cx="425196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56285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LIVELLO MACRO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92861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86A17"/>
                </a:solidFill>
                <a:latin typeface="Calibri"/>
              </a:rPr>
              <a:t>4 - GRAVITA'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